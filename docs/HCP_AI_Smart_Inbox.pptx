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Lato"/>
              </a:defRPr>
            </a:pPr>
            <a:r>
              <a:t>I Started by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B706"/>
                </a:solidFill>
                <a:latin typeface="Lato"/>
              </a:defRPr>
            </a:pPr>
            <a:r>
              <a:t>Rauen Flooring  •  Fort Myers, FL  •  3 people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457200"/>
            <a:ext cx="3474720" cy="2560320"/>
          </a:xfrm>
          <a:prstGeom prst="roundRect">
            <a:avLst>
              <a:gd name="adj" fmla="val 6000"/>
            </a:avLst>
          </a:prstGeom>
          <a:solidFill>
            <a:srgbClr val="1A2533"/>
          </a:solidFill>
          <a:ln w="12700">
            <a:solidFill>
              <a:srgbClr val="8A8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A8F98"/>
                </a:solidFill>
                <a:latin typeface="Lato"/>
              </a:defRPr>
            </a:pPr>
            <a:r>
              <a:t>[ Family Photo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54864" cy="77724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Lato"/>
              </a:defRPr>
            </a:pPr>
            <a:r>
              <a:t>“I’ll finish a job covered in dust, check my phone, and there are six messages. The one about the invoice? Buried.”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FB706"/>
                </a:solidFill>
                <a:latin typeface="Lato"/>
              </a:defRPr>
            </a:pPr>
            <a:r>
              <a:t>— Sandro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43400"/>
            <a:ext cx="54864" cy="77724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Lato"/>
              </a:defRPr>
            </a:pPr>
            <a:r>
              <a:t>“Customers always ask ‘why did you charge for leveling?’ We’ve explained it a hundred times, but when we’re on a job we can’t stop and type it out.”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FB706"/>
                </a:solidFill>
                <a:latin typeface="Lato"/>
              </a:defRPr>
            </a:pPr>
            <a:r>
              <a:t>— Fabiana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94960"/>
            <a:ext cx="54864" cy="77724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Lato"/>
              </a:defRPr>
            </a:pPr>
            <a:r>
              <a:t>“I thought Sandro answered her. He thought I did. She waited three days and hired someone else.”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FB706"/>
                </a:solidFill>
                <a:latin typeface="Lato"/>
              </a:defRPr>
            </a:pPr>
            <a:r>
              <a:t>— Fabiana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8F98"/>
                </a:solidFill>
                <a:latin typeface="Lato"/>
              </a:defRPr>
            </a:pPr>
            <a:r>
              <a:t>They were also clear about one thing: as customers themselves, they don’t want to talk to a bot. They want to know a person is on the other 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8151E"/>
                </a:solidFill>
                <a:latin typeface="Lato"/>
              </a:defRPr>
            </a:pPr>
            <a:r>
              <a:t>The Data Backs It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2373C"/>
                </a:solidFill>
                <a:latin typeface="Lato"/>
              </a:defRPr>
            </a:pPr>
            <a:r>
              <a:t>What I heard at the kitchen table is not just my family’s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754880" cy="173736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B706"/>
                </a:solidFill>
                <a:latin typeface="Lato"/>
              </a:defRPr>
            </a:pPr>
            <a:r>
              <a:t>56%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of small businesses are owed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money from unpaid invoices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4754880" cy="173736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574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B706"/>
                </a:solidFill>
                <a:latin typeface="Lato"/>
              </a:defRPr>
            </a:pPr>
            <a:r>
              <a:t>$17.5K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average amount owed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per 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4754880" cy="173736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B706"/>
                </a:solidFill>
                <a:latin typeface="Lato"/>
              </a:defRPr>
            </a:pPr>
            <a:r>
              <a:t>94% →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collection probability drops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from 30 days to 6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840480"/>
            <a:ext cx="4754880" cy="173736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B706"/>
                </a:solidFill>
                <a:latin typeface="Lato"/>
              </a:defRPr>
            </a:pPr>
            <a:r>
              <a:t>+50%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payment likelihood increase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373C"/>
                </a:solidFill>
                <a:latin typeface="Lato"/>
              </a:defRPr>
            </a:pPr>
            <a:r>
              <a:t>with just one reminder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8151E"/>
                </a:solidFill>
                <a:latin typeface="Lato"/>
              </a:defRPr>
            </a:pPr>
            <a:r>
              <a:t>Speed and clarity are the two biggest levers for getting paid.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8151E"/>
                </a:solidFill>
                <a:latin typeface="Lato"/>
              </a:defRPr>
            </a:pPr>
            <a:r>
              <a:t>Where the Funnel Leaks</a:t>
            </a:r>
          </a:p>
        </p:txBody>
      </p:sp>
      <p:sp>
        <p:nvSpPr>
          <p:cNvPr id="3" name="Chevron 2"/>
          <p:cNvSpPr/>
          <p:nvPr/>
        </p:nvSpPr>
        <p:spPr>
          <a:xfrm>
            <a:off x="731520" y="1371600"/>
            <a:ext cx="1920240" cy="868680"/>
          </a:xfrm>
          <a:prstGeom prst="chevron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Invoice</a:t>
            </a:r>
            <a:br/>
            <a:r>
              <a:t>Sent</a:t>
            </a:r>
          </a:p>
        </p:txBody>
      </p:sp>
      <p:sp>
        <p:nvSpPr>
          <p:cNvPr id="4" name="Chevron 3"/>
          <p:cNvSpPr/>
          <p:nvPr/>
        </p:nvSpPr>
        <p:spPr>
          <a:xfrm>
            <a:off x="2880360" y="1371600"/>
            <a:ext cx="1920240" cy="868680"/>
          </a:xfrm>
          <a:prstGeom prst="chevron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Customer</a:t>
            </a:r>
            <a:br/>
            <a:r>
              <a:t>Receives</a:t>
            </a:r>
          </a:p>
        </p:txBody>
      </p:sp>
      <p:sp>
        <p:nvSpPr>
          <p:cNvPr id="5" name="Chevron 4"/>
          <p:cNvSpPr/>
          <p:nvPr/>
        </p:nvSpPr>
        <p:spPr>
          <a:xfrm>
            <a:off x="5029200" y="1371600"/>
            <a:ext cx="1920240" cy="868680"/>
          </a:xfrm>
          <a:prstGeom prst="chevron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8151E"/>
                </a:solidFill>
                <a:latin typeface="Lato"/>
              </a:defRPr>
            </a:pPr>
            <a:r>
              <a:t>Questions &amp;</a:t>
            </a:r>
            <a:br/>
            <a:r>
              <a:t>Concerns</a:t>
            </a:r>
          </a:p>
        </p:txBody>
      </p:sp>
      <p:sp>
        <p:nvSpPr>
          <p:cNvPr id="6" name="Chevron 5"/>
          <p:cNvSpPr/>
          <p:nvPr/>
        </p:nvSpPr>
        <p:spPr>
          <a:xfrm>
            <a:off x="7178040" y="1371600"/>
            <a:ext cx="1920240" cy="868680"/>
          </a:xfrm>
          <a:prstGeom prst="chevron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Pro</a:t>
            </a:r>
            <a:br/>
            <a:r>
              <a:t>Responds</a:t>
            </a:r>
          </a:p>
        </p:txBody>
      </p:sp>
      <p:sp>
        <p:nvSpPr>
          <p:cNvPr id="7" name="Chevron 6"/>
          <p:cNvSpPr/>
          <p:nvPr/>
        </p:nvSpPr>
        <p:spPr>
          <a:xfrm>
            <a:off x="9326880" y="1371600"/>
            <a:ext cx="1920240" cy="868680"/>
          </a:xfrm>
          <a:prstGeom prst="chevron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Payment</a:t>
            </a:r>
            <a:br/>
            <a:r>
              <a:t>Made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B706"/>
                </a:solidFill>
                <a:latin typeface="Lato"/>
              </a:defRPr>
            </a:pPr>
            <a:r>
              <a:t>↑ THE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069848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08151E"/>
                </a:solidFill>
                <a:latin typeface="Lato"/>
              </a:defRPr>
            </a:pPr>
            <a:r>
              <a:t>What HCP does well today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2373C"/>
                </a:solidFill>
                <a:latin typeface="Lato"/>
              </a:defRPr>
            </a:pPr>
            <a:r>
              <a:t>•  Invoice creation &amp; multiple payment methods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2373C"/>
                </a:solidFill>
                <a:latin typeface="Lato"/>
              </a:defRPr>
            </a:pPr>
            <a:r>
              <a:t>•  Automated email reminders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2373C"/>
                </a:solidFill>
                <a:latin typeface="Lato"/>
              </a:defRPr>
            </a:pPr>
            <a:r>
              <a:t>•  Marketing AI for invoice message 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1089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08151E"/>
                </a:solidFill>
                <a:latin typeface="Lato"/>
              </a:defRPr>
            </a:pPr>
            <a:r>
              <a:t>What competitors are adding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2373C"/>
                </a:solidFill>
                <a:latin typeface="Lato"/>
              </a:defRPr>
            </a:pPr>
            <a:r>
              <a:t>ServiceTitan — AI invoice summaries + one-click collection emails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2373C"/>
                </a:solidFill>
                <a:latin typeface="Lato"/>
              </a:defRPr>
            </a:pPr>
            <a:r>
              <a:t>Jobber — AI rewrite for invoice messages, reminders, two-way texting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2373C"/>
                </a:solidFill>
                <a:latin typeface="Lato"/>
              </a:defRPr>
            </a:pPr>
            <a:r>
              <a:t>Workiz — AI messaging across channels, tailored to customer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08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B706"/>
                </a:solidFill>
                <a:latin typeface="Lato"/>
              </a:defRPr>
            </a:pPr>
            <a:r>
              <a:t>THE OPPORTUNITY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FFFFF"/>
                </a:solidFill>
                <a:latin typeface="Lato"/>
              </a:defRPr>
            </a:pPr>
            <a:r>
              <a:t>Competitors are adding AI to individual touchpoints. None have a unified AI layer that watches the full conversation, understands context from memory, and helps the pro respond at the moment it matters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Lato"/>
              </a:defRPr>
            </a:pPr>
            <a:r>
              <a:t>AI Smart Inbox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B706"/>
                </a:solidFill>
                <a:latin typeface="Lato"/>
              </a:defRPr>
            </a:pPr>
            <a:r>
              <a:t>An AI co-worker that lives inside HouseCall Pro’s messaging inbox.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91840" cy="2560320"/>
          </a:xfrm>
          <a:prstGeom prst="roundRect">
            <a:avLst>
              <a:gd name="adj" fmla="val 6000"/>
            </a:avLst>
          </a:prstGeom>
          <a:solidFill>
            <a:srgbClr val="0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48840"/>
            <a:ext cx="2743200" cy="4572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B706"/>
                </a:solidFill>
                <a:latin typeface="Lato"/>
              </a:defRPr>
            </a:pPr>
            <a:r>
              <a:t>PRIORITIZE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Lato"/>
              </a:defRPr>
            </a:pPr>
            <a:r>
              <a:t>Surface what needs your attention right now. No hunting through threads.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2560320"/>
          </a:xfrm>
          <a:prstGeom prst="roundRect">
            <a:avLst>
              <a:gd name="adj" fmla="val 6000"/>
            </a:avLst>
          </a:prstGeom>
          <a:solidFill>
            <a:srgbClr val="0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2148840"/>
            <a:ext cx="2743200" cy="4572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B706"/>
                </a:solidFill>
                <a:latin typeface="Lato"/>
              </a:defRPr>
            </a:pPr>
            <a:r>
              <a:t>BE QUICK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Lato"/>
              </a:defRPr>
            </a:pPr>
            <a:r>
              <a:t>AI-drafted responses ready the moment you check your inbox. Turn days into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291840" cy="2560320"/>
          </a:xfrm>
          <a:prstGeom prst="roundRect">
            <a:avLst>
              <a:gd name="adj" fmla="val 6000"/>
            </a:avLst>
          </a:prstGeom>
          <a:solidFill>
            <a:srgbClr val="0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48840"/>
            <a:ext cx="2743200" cy="45720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B706"/>
                </a:solidFill>
                <a:latin typeface="Lato"/>
              </a:defRPr>
            </a:pPr>
            <a:r>
              <a:t>DRIVE 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Lato"/>
              </a:defRPr>
            </a:pPr>
            <a:r>
              <a:t>Use context that already exists — conversation history, invoice details, your own FAQ answers — to draft accurate, helpful replies.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A8F98"/>
                </a:solidFill>
                <a:latin typeface="Lato"/>
              </a:defRPr>
            </a:pPr>
            <a:r>
              <a:t>Design principle: AI works behind the scenes. The pro reviews, edits, and sends every message. No customer ever talks to a bot.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8151E"/>
                </a:solidFill>
                <a:latin typeface="Lato"/>
              </a:defRPr>
            </a:pPr>
            <a: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2373C"/>
                </a:solidFill>
                <a:latin typeface="Lato"/>
              </a:defRPr>
            </a:pPr>
            <a:r>
              <a:t>Two-stage pipeline with a persistent memory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  <a:latin typeface="Lato"/>
              </a:defRPr>
            </a:pPr>
            <a:r>
              <a:t>1  EVALUATE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DDFF"/>
                </a:solidFill>
                <a:latin typeface="Lato"/>
              </a:defRPr>
            </a:pPr>
            <a:r>
              <a:t>Every incoming message runs through an AI agent that decides: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•  Does this need action?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•  What kind? How urgent?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•  Update customer memory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74920" y="2468880"/>
            <a:ext cx="640080" cy="457200"/>
          </a:xfrm>
          <a:prstGeom prst="rightArrow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  <a:latin typeface="Lato"/>
              </a:defRPr>
            </a:pPr>
            <a:r>
              <a:t>2  GENERATE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DDFF"/>
                </a:solidFill>
                <a:latin typeface="Lato"/>
              </a:defRPr>
            </a:pPr>
            <a:r>
              <a:t>If action needed, a second pass drafts a response using: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•  Invoice details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•  Conversation history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•  Two layers of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9326880" cy="1188720"/>
          </a:xfrm>
          <a:prstGeom prst="roundRect">
            <a:avLst>
              <a:gd name="adj" fmla="val 6000"/>
            </a:avLst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8151E"/>
                </a:solidFill>
                <a:latin typeface="Lato"/>
              </a:defRPr>
            </a:pPr>
            <a:r>
              <a:t>MEMORY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A2A00"/>
                </a:solidFill>
                <a:latin typeface="Lato"/>
              </a:defRPr>
            </a:pPr>
            <a:r>
              <a:t>Business Knowledge</a:t>
            </a:r>
            <a:br/>
            <a:r>
              <a:t>Your services, pricing, FAQ answers. Things you explain every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4480560"/>
            <a:ext cx="18288" cy="640080"/>
          </a:xfrm>
          <a:prstGeom prst="rect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4617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A2A00"/>
                </a:solidFill>
                <a:latin typeface="Lato"/>
              </a:defRPr>
            </a:pPr>
            <a:r>
              <a:t>Customer History</a:t>
            </a:r>
            <a:br/>
            <a:r>
              <a:t>Preferences, past jobs, communication style. Grows with every interaction.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2373C"/>
                </a:solidFill>
                <a:latin typeface="Lato"/>
              </a:defRPr>
            </a:pPr>
            <a:r>
              <a:t>Skills:  Follow-up  •  Question Response  •  Invoice Summary  •  Payment Plan    —  Adding a new skill means writing a new prompt, not rebuilding the 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8151E"/>
                </a:solidFill>
                <a:latin typeface="Lato"/>
              </a:defRPr>
            </a:pPr>
            <a:r>
              <a:t>The same pipeline works for any home service vertical and can extend beyond invoicing into other HCP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8151E"/>
                </a:solidFill>
                <a:latin typeface="Lato"/>
              </a:defRPr>
            </a:pPr>
            <a:r>
              <a:t>Trust is 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2373C"/>
                </a:solidFill>
                <a:latin typeface="Lato"/>
              </a:defRPr>
            </a:pPr>
            <a:r>
              <a:t>Progression is earned by metrics, not by a calendar.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Lato"/>
              </a:defRPr>
            </a:pPr>
            <a:r>
              <a:t>PHASE 1  •  This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Lato"/>
              </a:defRPr>
            </a:pPr>
            <a:r>
              <a:t>Every draft reviewed</a:t>
            </a:r>
            <a:br/>
            <a:r>
              <a:t>by the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DDFF"/>
                </a:solidFill>
                <a:latin typeface="Lato"/>
              </a:defRPr>
            </a:pPr>
            <a:r>
              <a:t>Building confidence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6200" y="2651760"/>
            <a:ext cx="411480" cy="365760"/>
          </a:xfrm>
          <a:prstGeom prst="rightArrow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Lato"/>
              </a:defRPr>
            </a:pPr>
            <a:r>
              <a:t>PHASE 2  • 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Lato"/>
              </a:defRPr>
            </a:pPr>
            <a:r>
              <a:t>Auto-send for proven,</a:t>
            </a:r>
            <a:br/>
            <a:r>
              <a:t>low-risk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83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DDFF"/>
                </a:solidFill>
                <a:latin typeface="Lato"/>
              </a:defRPr>
            </a:pPr>
            <a:r>
              <a:t>Track record earns automation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98080" y="2651760"/>
            <a:ext cx="411480" cy="365760"/>
          </a:xfrm>
          <a:prstGeom prst="rightArrow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73736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151E"/>
                </a:solidFill>
                <a:latin typeface="Lato"/>
              </a:defRPr>
            </a:pPr>
            <a:r>
              <a:t>PHASE 3  •  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151E"/>
                </a:solidFill>
                <a:latin typeface="Lato"/>
              </a:defRPr>
            </a:pPr>
            <a:r>
              <a:t>Autonomous for</a:t>
            </a:r>
            <a:br/>
            <a:r>
              <a:t>routine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83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4A00"/>
                </a:solidFill>
                <a:latin typeface="Lato"/>
              </a:defRPr>
            </a:pPr>
            <a:r>
              <a:t>AI operates where trust</a:t>
            </a:r>
            <a:br/>
            <a:r>
              <a:t>is established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51960"/>
            <a:ext cx="1069848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8151E"/>
                </a:solidFill>
                <a:latin typeface="Lato"/>
              </a:defRPr>
            </a:pPr>
            <a:r>
              <a:t>Quality gates: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B706"/>
                </a:solidFill>
                <a:latin typeface="Lato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2373C"/>
                </a:solidFill>
                <a:latin typeface="Lato"/>
              </a:defRPr>
            </a:pPr>
            <a:r>
              <a:t>factual accuracy</a:t>
            </a:r>
            <a:br/>
            <a:r>
              <a:t>on financial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8463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B706"/>
                </a:solidFill>
                <a:latin typeface="Lato"/>
              </a:defRPr>
            </a:pPr>
            <a:r>
              <a:t>&gt;70%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2373C"/>
                </a:solidFill>
                <a:latin typeface="Lato"/>
              </a:defRPr>
            </a:pPr>
            <a:r>
              <a:t>of drafts</a:t>
            </a:r>
            <a:br/>
            <a:r>
              <a:t>actually 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8463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B706"/>
                </a:solidFill>
                <a:latin typeface="Lato"/>
              </a:defRPr>
            </a:pPr>
            <a:r>
              <a:t>&lt;20%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2373C"/>
                </a:solidFill>
                <a:latin typeface="Lato"/>
              </a:defRPr>
            </a:pPr>
            <a:r>
              <a:t>of drafts</a:t>
            </a:r>
            <a:br/>
            <a:r>
              <a:t>dismissed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6000"/>
            </a:avLst>
          </a:prstGeom>
          <a:solidFill>
            <a:srgbClr val="08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Lato"/>
              </a:defRPr>
            </a:pPr>
            <a:r>
              <a:t>When AI isn’t confident, it stays silent. Noise erodes trust faster than silence.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A8F98"/>
                </a:solidFill>
                <a:latin typeface="Lato"/>
              </a:defRPr>
            </a:pPr>
            <a:r>
              <a:t>Every recommendation can be dismissed (tracked as a quality signal)  •  Reasoning is transparent: pros see exactly which messages the AI 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Lato"/>
              </a:defRPr>
            </a:pPr>
            <a:r>
              <a:t>Where This Goes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27632"/>
            <a:ext cx="164592" cy="164592"/>
          </a:xfrm>
          <a:prstGeom prst="ellipse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08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Lato"/>
              </a:defRPr>
            </a:pPr>
            <a:r>
              <a:t>Memory grows with every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A8F98"/>
                </a:solidFill>
                <a:latin typeface="Lato"/>
              </a:defRPr>
            </a:pPr>
            <a:r>
              <a:t>The AI gets better at understanding each customer and each business over time.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24912"/>
            <a:ext cx="164592" cy="164592"/>
          </a:xfrm>
          <a:prstGeom prst="ellipse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Lato"/>
              </a:defRPr>
            </a:pPr>
            <a:r>
              <a:t>New skills plug into the same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A8F98"/>
                </a:solidFill>
                <a:latin typeface="Lato"/>
              </a:defRPr>
            </a:pPr>
            <a:r>
              <a:t>Estimate follow-ups, scheduling nudges, repeat customer recognition, warranty questions.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22192"/>
            <a:ext cx="164592" cy="164592"/>
          </a:xfrm>
          <a:prstGeom prst="ellipse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03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Lato"/>
              </a:defRPr>
            </a:pPr>
            <a:r>
              <a:t>Architecture extends beyond invoicing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A8F98"/>
                </a:solidFill>
                <a:latin typeface="Lato"/>
              </a:defRPr>
            </a:pPr>
            <a:r>
              <a:t>The same pipeline could power AI assistance across other HCP workflows.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919472"/>
            <a:ext cx="164592" cy="164592"/>
          </a:xfrm>
          <a:prstGeom prst="ellipse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Lato"/>
              </a:defRPr>
            </a:pPr>
            <a:r>
              <a:t>Earned autonomy as trust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66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A8F98"/>
                </a:solidFill>
                <a:latin typeface="Lato"/>
              </a:defRPr>
            </a:pPr>
            <a:r>
              <a:t>Proactive outreach, cross-conversation insights, pattern detection across the customer base.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669280"/>
            <a:ext cx="10698480" cy="182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B706"/>
                </a:solidFill>
                <a:latin typeface="Lato"/>
              </a:defRPr>
            </a:pPr>
            <a:r>
              <a:t>“This prototype is small on purpose. The point is to show the thinking and the foundation, not to ship everything at once.”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Lato"/>
              </a:defRPr>
            </a:pPr>
            <a:r>
              <a:t>Let Me Show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B706"/>
                </a:solidFill>
                <a:latin typeface="Lato"/>
              </a:defRPr>
            </a:pPr>
            <a:r>
              <a:t>Three things to watch for:</a:t>
            </a:r>
          </a:p>
        </p:txBody>
      </p:sp>
      <p:sp>
        <p:nvSpPr>
          <p:cNvPr id="4" name="Oval 3"/>
          <p:cNvSpPr/>
          <p:nvPr/>
        </p:nvSpPr>
        <p:spPr>
          <a:xfrm>
            <a:off x="3840480" y="2926080"/>
            <a:ext cx="457200" cy="457200"/>
          </a:xfrm>
          <a:prstGeom prst="ellipse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151E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944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Lato"/>
              </a:defRPr>
            </a:pPr>
            <a:r>
              <a:t>How the inbox surfaces what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3840480" y="3749040"/>
            <a:ext cx="457200" cy="457200"/>
          </a:xfrm>
          <a:prstGeom prst="ellipse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151E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767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Lato"/>
              </a:defRPr>
            </a:pPr>
            <a:r>
              <a:t>How AI uses conversation history to draft relevant follow-ups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4572000"/>
            <a:ext cx="457200" cy="457200"/>
          </a:xfrm>
          <a:prstGeom prst="ellipse">
            <a:avLst/>
          </a:prstGeom>
          <a:solidFill>
            <a:srgbClr val="FFB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151E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5902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Lato"/>
              </a:defRPr>
            </a:pPr>
            <a:r>
              <a:t>How a brand-new conversation gets evaluated in real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669280"/>
            <a:ext cx="2103120" cy="18288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